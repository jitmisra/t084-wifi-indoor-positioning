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Gauri Mehrotra (about 0.5 min)</a:t>
            </a:r>
          </a:p>
          <a:p>
            <a:r>
              <a:t>- Hello, we are Team T084, Section D. Our project: indoor location prediction using Wi-Fi signals.</a:t>
            </a:r>
          </a:p>
          <a:p>
            <a:r>
              <a:t>- I am Gauri Mehrotra; after me come Ansh, Agnik Misra, Kartikey Gupta and Lokendra Singh.</a:t>
            </a:r>
          </a:p>
          <a:p>
            <a:r>
              <a:t>- This is Phase 1, where we use classical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Gauri Mehrotra (about 1 min)</a:t>
            </a:r>
          </a:p>
          <a:p>
            <a:r>
              <a:t>- GPS works poorly indoors because walls and roofs weaken the satellite signals.</a:t>
            </a:r>
          </a:p>
          <a:p>
            <a:r>
              <a:t>- A phone measures how strongly it hears each Wi-Fi access point (WAP), in dBm; closer to 0 is stronger. That list of readings is one scan.</a:t>
            </a:r>
          </a:p>
          <a:p>
            <a:r>
              <a:t>- From one scan we predict building and floor (classification) and the (x, y) position (regression).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Gauri Mehrotra (about 1 min)</a:t>
            </a:r>
          </a:p>
          <a:p>
            <a:r>
              <a:t>- RADAR (2000), the classic method, answers with the closest stored scans: the idea behind kNN.</a:t>
            </a:r>
          </a:p>
          <a:p>
            <a:r>
              <a:t>- UJIIndoorLoc gave a public benchmark and a kNN study; a classifier comparison found kNN best, with trees close behind; later work used neural networks.</a:t>
            </a:r>
          </a:p>
          <a:p>
            <a:r>
              <a:t>- Two gaps: random splits look too good (98.2% against 91.1% in one study), and our three task models share nothing, while one shared network has been shown to work on this data (Kim et al., 2018).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Ansh (about 1 min)</a:t>
            </a:r>
          </a:p>
          <a:p>
            <a:r>
              <a:t>- The map: colored dots are training positions, crosses are test scans.</a:t>
            </a:r>
          </a:p>
          <a:p>
            <a:r>
              <a:t>- A scan hears only 17.8 of the 520 WAPs on average; the file codes “not heard” as 100, and we use −110 dBm instead, weaker than any real reading.</a:t>
            </a:r>
          </a:p>
          <a:p>
            <a:r>
              <a:t>- The test set, validationData.csv, was recorded months later, mostly with new phones: a realistic exam. One data meter is about 0.77 m on the 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Ansh (about 1.5 min)</a:t>
            </a:r>
          </a:p>
          <a:p>
            <a:r>
              <a:t>- Three fixed rules clean the training file only: 19,937 scans become 18,719; the test set stays as is.</a:t>
            </a:r>
          </a:p>
          <a:p>
            <a:r>
              <a:t>- Cross-validation (CV): split the training scans into 5 parts (folds), train on 4, test on the 5th, five times. User-group CV: each fold holds out whole users and their phones, like the new test phones.</a:t>
            </a:r>
          </a:p>
          <a:p>
            <a:r>
              <a:t>- Random CV is too optimistic: one person scanned each spot many times, so near-copies land on both sides of a split. It promises 3.67 m; the test set gives 12.52 m. User-group CV (15.87 m) errs on the safe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Agnik Misra (about 1.5 min)</a:t>
            </a:r>
          </a:p>
          <a:p>
            <a:r>
              <a:t>- RSSI: one column per WAP heard in training; signal statistics: WAPs heard, strongest and mean reading.</a:t>
            </a:r>
          </a:p>
          <a:p>
            <a:r>
              <a:t>- AP-affinity, our idea: every WAP heard in at least 5 training scans gets a profile (building shares, mean floor, mean location), learned from the scans that hear it; stronger readings count more.</a:t>
            </a:r>
          </a:p>
          <a:p>
            <a:r>
              <a:t>- A scan gets the weighted average of its WAPs' profiles plus the location of its strongest known WAP (one with a profile): 8 columns, learned inside every CV 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Agnik Misra (about 1 min)</a:t>
            </a:r>
          </a:p>
          <a:p>
            <a:r>
              <a:t>- Same Baseline RF settings; only the feature set changes; scored with user-group CV.</a:t>
            </a:r>
          </a:p>
          <a:p>
            <a:r>
              <a:t>- AP-affinity: CV error 15.87 m → 11.38 m (28.3% lower), floors 78.0% → 80.6%.</a:t>
            </a:r>
          </a:p>
          <a:p>
            <a:r>
              <a:t>- Honestly, the signal statistics did not help: CV error 15.55 m → 15.87 m, floors 78.5% → 78.0%.</a:t>
            </a:r>
          </a:p>
          <a:p>
            <a:r>
              <a:t>- We still keep them: the three sets are nested and the full set scored best (we did not test rssi plus AP-affinity alone).</a:t>
            </a:r>
          </a:p>
          <a:p>
            <a:r>
              <a:t>- Even alone, with no model, AP-affinity gets 99.9% of test buildings right and a 14.20 m mean 2D error (notebook 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Kartikey Gupta (about 1.5 min)</a:t>
            </a:r>
          </a:p>
          <a:p>
            <a:r>
              <a:t>- Each method has three separate models: building, floor and position.</a:t>
            </a:r>
          </a:p>
          <a:p>
            <a:r>
              <a:t>- kNN copies the most similar training scans; Random Forest averages many trees; XGBoost adds trees that fix earlier errors. Baseline RF is a Random Forest with default settings.</a:t>
            </a:r>
          </a:p>
          <a:p>
            <a:r>
              <a:t>- Small grids, scored with the same user-group CV; each task keeps its best setting. The rule fixed before testing picked Random Forest (11.09 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Kartikey Gupta (about 1 min)</a:t>
            </a:r>
          </a:p>
          <a:p>
            <a:r>
              <a:t>- The test set is used once: 1,111 scans.</a:t>
            </a:r>
          </a:p>
          <a:p>
            <a:r>
              <a:t>- Random Forest has the lowest mean 2D error, the average straight-line distance to the true position: 7.42 m vs 12.52 m for the Baseline RF.</a:t>
            </a:r>
          </a:p>
          <a:p>
            <a:r>
              <a:t>- XGBoost gets the most floors right (95.2%), so no model is best at every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Lokendra Singh (about 1 min)</a:t>
            </a:r>
          </a:p>
          <a:p>
            <a:r>
              <a:t>- The building is never wrong; a wrong floor costs more (13.06 m), but only 7.8% of scans have one.</a:t>
            </a:r>
          </a:p>
          <a:p>
            <a:r>
              <a:t>- 86.2% of the error is on scans with building and floor right: fine position is the main problem.</a:t>
            </a:r>
          </a:p>
          <a:p>
            <a:r>
              <a:t>- 81 of the 87 floor mistakes are one floor off; new phones are harder (8.30 m vs 5.84 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Lokendra Singh (about 1 min)</a:t>
            </a:r>
          </a:p>
          <a:p>
            <a:r>
              <a:t>- Phase 1 showed: AP-affinity helped most, no model wins every task, and most error is fine position.</a:t>
            </a:r>
          </a:p>
          <a:p>
            <a:r>
              <a:t>- The gap: the three task models share nothing; AP-affinity shares location knowledge only by hand.</a:t>
            </a:r>
          </a:p>
          <a:p>
            <a:r>
              <a:t>- Phase 2: one multi-task network, shared layers and three heads; same split, test set and metrics; compared with Phase 1.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C9D4E0"/>
                </a:solidFill>
                <a:latin typeface="Arial"/>
              </a:rPr>
              <a:t>T084 |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1512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C9D4E0"/>
                </a:solidFill>
                <a:latin typeface="Arial"/>
              </a:rPr>
              <a:t>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spc="200">
                <a:solidFill>
                  <a:srgbClr val="6FD3CF"/>
                </a:solidFill>
                <a:latin typeface="Arial"/>
              </a:rPr>
              <a:t>PROJECT 9 · PHASE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05840" cy="54864"/>
          </a:xfrm>
          <a:prstGeom prst="rect">
            <a:avLst/>
          </a:prstGeom>
          <a:solidFill>
            <a:srgbClr val="6FD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F7F5F0"/>
                </a:solidFill>
                <a:latin typeface="Arial"/>
              </a:rPr>
              <a:t>Indoor Location Prediction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F7F5F0"/>
                </a:solidFill>
                <a:latin typeface="Arial"/>
              </a:rPr>
              <a:t>Using Wi-Fi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6FD3CF"/>
                </a:solidFill>
                <a:latin typeface="Arial"/>
              </a:rPr>
              <a:t>Team T084 | Section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2035454" cy="1005840"/>
          </a:xfrm>
          <a:prstGeom prst="roundRect">
            <a:avLst>
              <a:gd name="adj" fmla="val 8000"/>
            </a:avLst>
          </a:prstGeom>
          <a:solidFill>
            <a:srgbClr val="1D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251960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7F5F0"/>
                </a:solidFill>
                <a:latin typeface="Arial"/>
              </a:rPr>
              <a:t>Gauri Mehrotra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663440"/>
            <a:ext cx="176113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9D4E0"/>
                </a:solidFill>
                <a:latin typeface="Arial"/>
              </a:rPr>
              <a:t>2401010170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4134" y="4114800"/>
            <a:ext cx="2035454" cy="1005840"/>
          </a:xfrm>
          <a:prstGeom prst="roundRect">
            <a:avLst>
              <a:gd name="adj" fmla="val 8000"/>
            </a:avLst>
          </a:prstGeom>
          <a:solidFill>
            <a:srgbClr val="1D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726" y="4251960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7F5F0"/>
                </a:solidFill>
                <a:latin typeface="Arial"/>
              </a:rPr>
              <a:t>Ansh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8726" y="4663440"/>
            <a:ext cx="176113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9D4E0"/>
                </a:solidFill>
                <a:latin typeface="Arial"/>
              </a:rPr>
              <a:t>2401010077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6748" y="4114800"/>
            <a:ext cx="2035454" cy="1005840"/>
          </a:xfrm>
          <a:prstGeom prst="roundRect">
            <a:avLst>
              <a:gd name="adj" fmla="val 8000"/>
            </a:avLst>
          </a:prstGeom>
          <a:solidFill>
            <a:srgbClr val="1D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1340" y="4251960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7F5F0"/>
                </a:solidFill>
                <a:latin typeface="Arial"/>
              </a:rPr>
              <a:t>Agnik Misra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1340" y="4663440"/>
            <a:ext cx="176113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9D4E0"/>
                </a:solidFill>
                <a:latin typeface="Arial"/>
              </a:rPr>
              <a:t>2401010044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9363" y="4114800"/>
            <a:ext cx="2035454" cy="1005840"/>
          </a:xfrm>
          <a:prstGeom prst="roundRect">
            <a:avLst>
              <a:gd name="adj" fmla="val 8000"/>
            </a:avLst>
          </a:prstGeom>
          <a:solidFill>
            <a:srgbClr val="1D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3955" y="4251960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7F5F0"/>
                </a:solidFill>
                <a:latin typeface="Arial"/>
              </a:rPr>
              <a:t>Kartikey Gupta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3955" y="4663440"/>
            <a:ext cx="176113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9D4E0"/>
                </a:solidFill>
                <a:latin typeface="Arial"/>
              </a:rPr>
              <a:t>2401010214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21977" y="4114800"/>
            <a:ext cx="2035454" cy="1005840"/>
          </a:xfrm>
          <a:prstGeom prst="roundRect">
            <a:avLst>
              <a:gd name="adj" fmla="val 8000"/>
            </a:avLst>
          </a:prstGeom>
          <a:solidFill>
            <a:srgbClr val="1D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6569" y="4251960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7F5F0"/>
                </a:solidFill>
                <a:latin typeface="Arial"/>
              </a:rPr>
              <a:t>Lokendra Singh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6569" y="4663440"/>
            <a:ext cx="176113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9D4E0"/>
                </a:solidFill>
                <a:latin typeface="Arial"/>
              </a:rPr>
              <a:t>2401010254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C9D4E0"/>
                </a:solidFill>
                <a:latin typeface="Arial"/>
              </a:rPr>
              <a:t>Newton School of Technology, Rishihood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50">
                <a:solidFill>
                  <a:srgbClr val="0E7C7B"/>
                </a:solidFill>
                <a:latin typeface="Arial"/>
              </a:rPr>
              <a:t>02 · THE PROBLEM · GAURI MEHROTRA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4213D"/>
                </a:solidFill>
                <a:latin typeface="Arial"/>
              </a:rPr>
              <a:t>Where is this phone indoors?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T084 |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1672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3D4A5C"/>
                </a:solidFill>
                <a:latin typeface="Arial"/>
              </a:rPr>
              <a:t>•  GPS works poorly indoors: walls and roofs weaken satellite signals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3D4A5C"/>
                </a:solidFill>
                <a:latin typeface="Arial"/>
              </a:rPr>
              <a:t>•  Wi-Fi is in most buildings; a phone hears many WAPs (access points)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3D4A5C"/>
                </a:solidFill>
                <a:latin typeface="Arial"/>
              </a:rPr>
              <a:t>•  One scan = the signal strength (RSSI, in dBm) of every WAP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3D4A5C"/>
                </a:solidFill>
                <a:latin typeface="Arial"/>
              </a:rPr>
              <a:t>•  Building and floor: classification; (x, y) position: regression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31089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4213D"/>
                </a:solidFill>
                <a:latin typeface="Arial"/>
              </a:rPr>
              <a:t>Wi-Fi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7083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RSSI of 520 WAPs, most of them “not heard”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4224528"/>
            <a:ext cx="502920" cy="365760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9996" y="3749039"/>
            <a:ext cx="31089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8596" y="388620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4213D"/>
                </a:solidFill>
                <a:latin typeface="Arial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8596" y="437083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kNN, Random Forest or XGBoost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31836" y="4224528"/>
            <a:ext cx="502920" cy="365760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31352" y="3749039"/>
            <a:ext cx="31089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9952" y="388620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4213D"/>
                </a:solidFill>
                <a:latin typeface="Arial"/>
              </a:rPr>
              <a:t>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437083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building · floor · (x, y) position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E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69848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4213D"/>
                </a:solidFill>
                <a:latin typeface="Arial"/>
              </a:rPr>
              <a:t>Data:</a:t>
            </a:r>
            <a:r>
              <a:rPr sz="1900" b="0">
                <a:solidFill>
                  <a:srgbClr val="14213D"/>
                </a:solidFill>
                <a:latin typeface="Arial"/>
              </a:rPr>
              <a:t> UJIIndoorLoc (UCI): 3 buildings, 19,937 training scans, 1,111 test scans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50">
                <a:solidFill>
                  <a:srgbClr val="0E7C7B"/>
                </a:solidFill>
                <a:latin typeface="Arial"/>
              </a:rPr>
              <a:t>03 · RELATED WORK · GAURI MEHROTRA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4213D"/>
                </a:solidFill>
                <a:latin typeface="Arial"/>
              </a:rPr>
              <a:t>What others did, and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T084 |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3 /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1671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49335"/>
                <a:gridCol w="754233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What they did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RADAR (2000)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Match a new scan to the closest stored fingerprints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UJIIndoorLoc (2014, 2015)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Public multi-building dataset; kNN with many distances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Classifier comparison (2015)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kNN best; bagged or boosted trees close behind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Neural networks (2017–2019)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Autoencoder, one shared network, CNN on UJIIndoorLoc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297680"/>
            <a:ext cx="5454396" cy="1371600"/>
          </a:xfrm>
          <a:prstGeom prst="roundRect">
            <a:avLst>
              <a:gd name="adj" fmla="val 8000"/>
            </a:avLst>
          </a:prstGeom>
          <a:solidFill>
            <a:srgbClr val="E3ECEA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43984"/>
            <a:ext cx="50886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Gap 1 · Random splits look too good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5088636" cy="7132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One network: 98.2% building-and-floor accuracy on a random split, 91.1% on the later test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916" y="4297680"/>
            <a:ext cx="5454396" cy="1371600"/>
          </a:xfrm>
          <a:prstGeom prst="roundRect">
            <a:avLst>
              <a:gd name="adj" fmla="val 8000"/>
            </a:avLst>
          </a:prstGeom>
          <a:solidFill>
            <a:srgbClr val="E3ECEA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8796" y="4443984"/>
            <a:ext cx="50886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Gap 2 · Our tasks are learned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796" y="4864608"/>
            <a:ext cx="5088636" cy="7132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Our three task models share nothing; Kim et al. (2018) trained one shared network on UJIIndoorLoc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Sources: Bahl &amp; Padmanabhan 2000; Torres-Sospedra et al. 2014, 2015; Bozkurt et al. 2015; Nowicki &amp; Wietrzykowski 2017; Kim et al. 2018; Song et al. 2019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50">
                <a:solidFill>
                  <a:srgbClr val="0E7C7B"/>
                </a:solidFill>
                <a:latin typeface="Arial"/>
              </a:rPr>
              <a:t>04 · THE DATA · ANSH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4213D"/>
                </a:solidFill>
                <a:latin typeface="Arial"/>
              </a:rPr>
              <a:t>The data: UJIIndoorLoc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T084 |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4 /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5394958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10588"/>
                <a:gridCol w="2050084"/>
                <a:gridCol w="183428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Training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Test set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Scans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18,719 (cleaned)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1,111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Phones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11 (9 new)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Recorded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May–Jun 2013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Sep–Oct 2013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539496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•  3 buildings, 13 building-floor classes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•  520 WAPs; a scan hears 17.8 on average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•  96.6% of training readings: “not heard”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•  64.3% of test scans from new phones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3212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F6B7A"/>
                </a:solidFill>
                <a:latin typeface="Arial"/>
              </a:rPr>
              <a:t>Test set = the UCI file validationData.csv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F6B7A"/>
                </a:solidFill>
                <a:latin typeface="Arial"/>
              </a:rPr>
              <a:t>Web-Mercator meters: 1 m ≈ 0.77 m on the 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8955"/>
            <a:ext cx="5422392" cy="437448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da_campus_ma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9360" y="1790395"/>
            <a:ext cx="5239512" cy="41916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50">
                <a:solidFill>
                  <a:srgbClr val="0E7C7B"/>
                </a:solidFill>
                <a:latin typeface="Arial"/>
              </a:rPr>
              <a:t>05 · CLEANING AND CV · ANSH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4213D"/>
                </a:solidFill>
                <a:latin typeface="Arial"/>
              </a:rPr>
              <a:t>Cleaning and a fair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T084 |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4213D"/>
                </a:solidFill>
                <a:latin typeface="Arial"/>
              </a:rPr>
              <a:t>1 · Cleaning (training file only)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03120"/>
          <a:ext cx="4480559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26003"/>
                <a:gridCol w="125455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13D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4213D"/>
                          </a:solidFill>
                          <a:latin typeface="Arial"/>
                        </a:rPr>
                        <a:t>Removed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D4A5C"/>
                          </a:solidFill>
                          <a:latin typeface="Arial"/>
                        </a:rPr>
                        <a:t>No WAP heard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D4A5C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D4A5C"/>
                          </a:solidFill>
                          <a:latin typeface="Arial"/>
                        </a:rPr>
                        <a:t>Exact duplicate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D4A5C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D4A5C"/>
                          </a:solidFill>
                          <a:latin typeface="Arial"/>
                        </a:rPr>
                        <a:t>Reading of −30 dBm or stronger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D4A5C"/>
                          </a:solidFill>
                          <a:latin typeface="Arial"/>
                        </a:rPr>
                        <a:t>508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148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0E7C7B"/>
                </a:solidFill>
                <a:latin typeface="Arial"/>
              </a:rPr>
              <a:t>19,937 → 18,719 scans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44805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D4A5C"/>
                </a:solidFill>
                <a:latin typeface="Arial"/>
              </a:rPr>
              <a:t>•  The test set is never cleaned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D4A5C"/>
                </a:solidFill>
                <a:latin typeface="Arial"/>
              </a:rPr>
              <a:t>•  Kept: the 464 WAPs heard in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600200"/>
            <a:ext cx="619963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4213D"/>
                </a:solidFill>
                <a:latin typeface="Arial"/>
              </a:rPr>
              <a:t>2 · A fair split: user-group cross-validation (CV)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057400"/>
            <a:ext cx="619963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3D4A5C"/>
                </a:solidFill>
                <a:latin typeface="Arial"/>
              </a:rPr>
              <a:t>•  5 folds; each holds out whole users with their phones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3D4A5C"/>
                </a:solidFill>
                <a:latin typeface="Arial"/>
              </a:rPr>
              <a:t>•  Shared phone = one group: 18 users → 16 groups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40680" y="3063240"/>
          <a:ext cx="619963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83882"/>
                <a:gridCol w="1239926"/>
                <a:gridCol w="1115933"/>
                <a:gridCol w="185988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Baseline RF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Building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Mean 2D error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Random CV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99.9%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3.67 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3D4A5C"/>
                          </a:solidFill>
                          <a:latin typeface="Arial"/>
                        </a:rPr>
                        <a:t>User-group CV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3D4A5C"/>
                          </a:solidFill>
                          <a:latin typeface="Arial"/>
                        </a:rPr>
                        <a:t>99.7%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3D4A5C"/>
                          </a:solidFill>
                          <a:latin typeface="Arial"/>
                        </a:rPr>
                        <a:t>78.0%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3D4A5C"/>
                          </a:solidFill>
                          <a:latin typeface="Arial"/>
                        </a:rPr>
                        <a:t>15.87 m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Test set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99.8%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91.2%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12.52 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40680" y="5120640"/>
            <a:ext cx="6199632" cy="914400"/>
          </a:xfrm>
          <a:prstGeom prst="roundRect">
            <a:avLst>
              <a:gd name="adj" fmla="val 8000"/>
            </a:avLst>
          </a:prstGeom>
          <a:solidFill>
            <a:srgbClr val="E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5120640"/>
            <a:ext cx="5760720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14213D"/>
                </a:solidFill>
                <a:latin typeface="Arial"/>
              </a:rPr>
              <a:t>Random CV promises </a:t>
            </a:r>
            <a:r>
              <a:rPr sz="1800" b="1">
                <a:solidFill>
                  <a:srgbClr val="14213D"/>
                </a:solidFill>
                <a:latin typeface="Arial"/>
              </a:rPr>
              <a:t>3.67 m</a:t>
            </a:r>
            <a:r>
              <a:rPr sz="1800" b="0">
                <a:solidFill>
                  <a:srgbClr val="14213D"/>
                </a:solidFill>
                <a:latin typeface="Arial"/>
              </a:rPr>
              <a:t>; the test set gives </a:t>
            </a:r>
            <a:r>
              <a:rPr sz="1800" b="1">
                <a:solidFill>
                  <a:srgbClr val="14213D"/>
                </a:solidFill>
                <a:latin typeface="Arial"/>
              </a:rPr>
              <a:t>12.52 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50">
                <a:solidFill>
                  <a:srgbClr val="0E7C7B"/>
                </a:solidFill>
                <a:latin typeface="Arial"/>
              </a:rPr>
              <a:t>06 · FEATURES · AGNIK MISRA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4213D"/>
                </a:solidFill>
                <a:latin typeface="Arial"/>
              </a:rPr>
              <a:t>Features: from a scan to location clues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T084 |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6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54396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46504"/>
            <a:ext cx="50886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RSSI · 464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67128"/>
            <a:ext cx="5088636" cy="6217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Signal strength of each WAP heard in training; not heard = −110 dBm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600200"/>
            <a:ext cx="5454396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8796" y="1746504"/>
            <a:ext cx="50886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Signal statistics · 3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96" y="2167128"/>
            <a:ext cx="5088636" cy="6217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WAPs heard, strongest reading, mean of the heard readings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1109167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E7C7B"/>
                </a:solidFill>
                <a:latin typeface="Arial"/>
              </a:rPr>
              <a:t>AP-affinity (our idea) · 8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3331464" cy="1463040"/>
          </a:xfrm>
          <a:prstGeom prst="roundRect">
            <a:avLst>
              <a:gd name="adj" fmla="val 8000"/>
            </a:avLst>
          </a:prstGeom>
          <a:solidFill>
            <a:srgbClr val="E3ECEA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58184"/>
            <a:ext cx="29657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1 · Learn where each WAP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78808"/>
            <a:ext cx="2965704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From the training scans that hear it: building, floor, location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71544" y="4160520"/>
            <a:ext cx="365760" cy="365760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28744" y="3611880"/>
            <a:ext cx="3331464" cy="1463040"/>
          </a:xfrm>
          <a:prstGeom prst="roundRect">
            <a:avLst>
              <a:gd name="adj" fmla="val 8000"/>
            </a:avLst>
          </a:prstGeom>
          <a:solidFill>
            <a:srgbClr val="E3ECEA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1624" y="3758184"/>
            <a:ext cx="29657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2 · Average the 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1624" y="4178808"/>
            <a:ext cx="2965704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Of the WAPs the scan hears; stronger readings count more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51648" y="4160520"/>
            <a:ext cx="365760" cy="365760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08848" y="3611880"/>
            <a:ext cx="3331464" cy="1463040"/>
          </a:xfrm>
          <a:prstGeom prst="roundRect">
            <a:avLst>
              <a:gd name="adj" fmla="val 8000"/>
            </a:avLst>
          </a:prstGeom>
          <a:solidFill>
            <a:srgbClr val="E3ECEA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1728" y="3758184"/>
            <a:ext cx="29657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3 · Add the strongest WAP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1728" y="4178808"/>
            <a:ext cx="2965704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Learned location of the strongest known WAP the scan hears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3D4A5C"/>
                </a:solidFill>
                <a:latin typeface="Arial"/>
              </a:rPr>
              <a:t>AP-affinity is learned from training scans only, again inside every CV fold, so held-out scans never shape their own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50">
                <a:solidFill>
                  <a:srgbClr val="0E7C7B"/>
                </a:solidFill>
                <a:latin typeface="Arial"/>
              </a:rPr>
              <a:t>07 · FEATURE CHECK · AGNIK MISRA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4213D"/>
                </a:solidFill>
                <a:latin typeface="Arial"/>
              </a:rPr>
              <a:t>Feature check: AP-affinity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T084 |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7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31550"/>
            <a:ext cx="6492240" cy="450929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eature_check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0080" y="1722990"/>
            <a:ext cx="6309359" cy="43264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600200"/>
            <a:ext cx="437083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F6B7A"/>
                </a:solidFill>
                <a:latin typeface="Arial"/>
              </a:rPr>
              <a:t>Baseline RF settings · user-group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057400"/>
            <a:ext cx="4370832" cy="1965960"/>
          </a:xfrm>
          <a:prstGeom prst="roundRect">
            <a:avLst>
              <a:gd name="adj" fmla="val 8000"/>
            </a:avLst>
          </a:prstGeom>
          <a:solidFill>
            <a:srgbClr val="E3ECEA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203704"/>
            <a:ext cx="40050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Adding AP-affinity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606040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E7C7B"/>
                </a:solidFill>
                <a:latin typeface="Arial"/>
              </a:rPr>
              <a:t>15.87 → 11.38 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154680"/>
            <a:ext cx="400507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CV mean 2D error, 28.3% lower; floor accuracy 78.0% → 80.6%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4160520"/>
            <a:ext cx="437083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4306824"/>
            <a:ext cx="40050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Adding signal statistics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709159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E7C7B"/>
                </a:solidFill>
                <a:latin typeface="Arial"/>
              </a:rPr>
              <a:t>15.55 → 15.87 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5257800"/>
            <a:ext cx="4005072" cy="5486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No gain: CV mean 2D error slightly higher; floor accuracy 78.5% → 78.0%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943600"/>
            <a:ext cx="437083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Arial"/>
              </a:rPr>
              <a:t>Alone, no model: 99.9% building, 14.20 m (test)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50">
                <a:solidFill>
                  <a:srgbClr val="0E7C7B"/>
                </a:solidFill>
                <a:latin typeface="Arial"/>
              </a:rPr>
              <a:t>08 · MODELS AND TUNING · KARTIKEY GUPTA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4213D"/>
                </a:solidFill>
                <a:latin typeface="Arial"/>
              </a:rPr>
              <a:t>Four models, tuned fairly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T084 |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8 /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1669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96500"/>
                <a:gridCol w="2883834"/>
                <a:gridCol w="4214835"/>
                <a:gridCol w="19965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Features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Tuned with user-group CV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Settings tried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Baseline RF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rssi + stats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nothing: 300 trees, default settings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kNN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rssi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k, weights, distance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rssi + stats + affinity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features per split, leaf size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rssi + stats + affinity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tree depth, number of trees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•  Three separate models per method: building, floor and position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•  Small grids; each task keeps its own best CV setting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66360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E3ECEA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663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4213D"/>
                </a:solidFill>
                <a:latin typeface="Arial"/>
              </a:rPr>
              <a:t>Final-model rule, fixed before testing:</a:t>
            </a:r>
            <a:r>
              <a:rPr sz="1800" b="0">
                <a:solidFill>
                  <a:srgbClr val="14213D"/>
                </a:solidFill>
                <a:latin typeface="Arial"/>
              </a:rPr>
              <a:t> lowest CV mean 2D error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14213D"/>
                </a:solidFill>
                <a:latin typeface="Arial"/>
              </a:rPr>
              <a:t>Random Forest 11.09 m · XGBoost 11.25 m · kNN 12.75 m  →  final model: </a:t>
            </a:r>
            <a:r>
              <a:rPr sz="1800" b="1">
                <a:solidFill>
                  <a:srgbClr val="14213D"/>
                </a:solidFill>
                <a:latin typeface="Arial"/>
              </a:rPr>
              <a:t>Random Forest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50">
                <a:solidFill>
                  <a:srgbClr val="0E7C7B"/>
                </a:solidFill>
                <a:latin typeface="Arial"/>
              </a:rPr>
              <a:t>09 · RESULTS · KARTIKEY GUPTA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4213D"/>
                </a:solidFill>
                <a:latin typeface="Arial"/>
              </a:rPr>
              <a:t>Test set results (1,111 scans, used once)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T084 |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9 /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1669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49335"/>
                <a:gridCol w="1663750"/>
                <a:gridCol w="1663750"/>
                <a:gridCol w="2107417"/>
                <a:gridCol w="2107417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213D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4213D"/>
                          </a:solidFill>
                          <a:latin typeface="Arial"/>
                        </a:rPr>
                        <a:t>Building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4213D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4213D"/>
                          </a:solidFill>
                          <a:latin typeface="Arial"/>
                        </a:rPr>
                        <a:t>Mean 2D error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4213D"/>
                          </a:solidFill>
                          <a:latin typeface="Arial"/>
                        </a:rPr>
                        <a:t>Median 2D error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Baseline RF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99.8%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91.2%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12.52 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7.70 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kNN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99.8%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87.5%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9.22 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5.88 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3D4A5C"/>
                          </a:solidFill>
                          <a:latin typeface="Arial"/>
                        </a:rPr>
                        <a:t>Random Forest (final model)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3D4A5C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3D4A5C"/>
                          </a:solidFill>
                          <a:latin typeface="Arial"/>
                        </a:rPr>
                        <a:t>92.2%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3D4A5C"/>
                          </a:solidFill>
                          <a:latin typeface="Arial"/>
                        </a:rPr>
                        <a:t>7.42 m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3D4A5C"/>
                          </a:solidFill>
                          <a:latin typeface="Arial"/>
                        </a:rPr>
                        <a:t>5.34 m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95.2%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7.86 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3D4A5C"/>
                          </a:solidFill>
                          <a:latin typeface="Arial"/>
                        </a:rPr>
                        <a:t>6.19 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572000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E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4213D"/>
                </a:solidFill>
                <a:latin typeface="Arial"/>
              </a:rPr>
              <a:t>Random Forest</a:t>
            </a:r>
            <a:r>
              <a:rPr sz="1900" b="0">
                <a:solidFill>
                  <a:srgbClr val="14213D"/>
                </a:solidFill>
                <a:latin typeface="Arial"/>
              </a:rPr>
              <a:t>, picked before testing, has the lowest error: </a:t>
            </a:r>
            <a:r>
              <a:rPr sz="1900" b="1">
                <a:solidFill>
                  <a:srgbClr val="14213D"/>
                </a:solidFill>
                <a:latin typeface="Arial"/>
              </a:rPr>
              <a:t>7.42 m</a:t>
            </a:r>
            <a:r>
              <a:rPr sz="1900" b="0">
                <a:solidFill>
                  <a:srgbClr val="14213D"/>
                </a:solidFill>
                <a:latin typeface="Arial"/>
              </a:rPr>
              <a:t> (Baseline RF 12.52 m). </a:t>
            </a:r>
            <a:r>
              <a:rPr sz="1900" b="1">
                <a:solidFill>
                  <a:srgbClr val="14213D"/>
                </a:solidFill>
                <a:latin typeface="Arial"/>
              </a:rPr>
              <a:t>XGBoost</a:t>
            </a:r>
            <a:r>
              <a:rPr sz="1900" b="0">
                <a:solidFill>
                  <a:srgbClr val="14213D"/>
                </a:solidFill>
                <a:latin typeface="Arial"/>
              </a:rPr>
              <a:t> gets the most floors right: </a:t>
            </a:r>
            <a:r>
              <a:rPr sz="1900" b="1">
                <a:solidFill>
                  <a:srgbClr val="14213D"/>
                </a:solidFill>
                <a:latin typeface="Arial"/>
              </a:rPr>
              <a:t>95.2%</a:t>
            </a:r>
            <a:r>
              <a:rPr sz="1900" b="0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F6B7A"/>
                </a:solidFill>
                <a:latin typeface="Arial"/>
              </a:rPr>
              <a:t>Mean 2D error: straight-line distance between predicted and true position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50">
                <a:solidFill>
                  <a:srgbClr val="0E7C7B"/>
                </a:solidFill>
                <a:latin typeface="Arial"/>
              </a:rPr>
              <a:t>10 · ERROR ANALYSIS · LOKENDRA SINGH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4213D"/>
                </a:solidFill>
                <a:latin typeface="Arial"/>
              </a:rPr>
              <a:t>Where the errors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T084 |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10 /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1670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36668"/>
                <a:gridCol w="2107417"/>
                <a:gridCol w="2218334"/>
                <a:gridCol w="2329251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Case (Random Forest, test set)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Share of scans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Mean 2D error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14213D"/>
                          </a:solidFill>
                          <a:latin typeface="Arial"/>
                        </a:rPr>
                        <a:t>Share of error</a:t>
                      </a:r>
                    </a:p>
                  </a:txBody>
                  <a:tcPr marL="109728" marR="109728" marT="27432" marB="27432" anchor="ctr">
                    <a:solidFill>
                      <a:srgbClr val="E3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Building wrong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Building right, floor wrong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7.8%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13.06 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D4A5C"/>
                          </a:solidFill>
                          <a:latin typeface="Arial"/>
                        </a:rPr>
                        <a:t>13.8%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3D4A5C"/>
                          </a:solidFill>
                          <a:latin typeface="Arial"/>
                        </a:rPr>
                        <a:t>Both right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3D4A5C"/>
                          </a:solidFill>
                          <a:latin typeface="Arial"/>
                        </a:rPr>
                        <a:t>92.2%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3D4A5C"/>
                          </a:solidFill>
                          <a:latin typeface="Arial"/>
                        </a:rPr>
                        <a:t>6.94 m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3D4A5C"/>
                          </a:solidFill>
                          <a:latin typeface="Arial"/>
                        </a:rPr>
                        <a:t>86.2%</a:t>
                      </a:r>
                    </a:p>
                  </a:txBody>
                  <a:tcPr marL="109728" marR="109728" marT="27432" marB="27432" anchor="ctr">
                    <a:solidFill>
                      <a:srgbClr val="FCEBD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90665" y="3246120"/>
            <a:ext cx="7911309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oor_confusion.png"/>
          <p:cNvPicPr>
            <a:picLocks noChangeAspect="1"/>
          </p:cNvPicPr>
          <p:nvPr/>
        </p:nvPicPr>
        <p:blipFill>
          <a:blip r:embed="rId3"/>
          <a:srcRect r="9500"/>
          <a:stretch>
            <a:fillRect/>
          </a:stretch>
        </p:blipFill>
        <p:spPr>
          <a:xfrm>
            <a:off x="982105" y="3337560"/>
            <a:ext cx="7728429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0" y="34290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E7C7B"/>
                </a:solidFill>
                <a:latin typeface="Arial"/>
              </a:rPr>
              <a:t>81 of 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977639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floor mistakes are one floor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48006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E7C7B"/>
                </a:solidFill>
                <a:latin typeface="Arial"/>
              </a:rPr>
              <a:t>8.30 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534924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on new phones; 5.84 m on seen phones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50">
                <a:solidFill>
                  <a:srgbClr val="0E7C7B"/>
                </a:solidFill>
                <a:latin typeface="Arial"/>
              </a:rPr>
              <a:t>11 · PHASE 2 GAP · LOKENDRA SINGH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4213D"/>
                </a:solidFill>
                <a:latin typeface="Arial"/>
              </a:rPr>
              <a:t>What Phase 1 showed, and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T084 |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E7C7B"/>
                </a:solidFill>
                <a:latin typeface="Arial"/>
              </a:rPr>
              <a:t>What Phase 1 showed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603504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•  AP-affinity helped most: CV error 15.87 → 11.38 m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•  No single best model: Random Forest for position, XGBoost for floors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•  86.2% of the error is on scans with building and floor 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43400"/>
            <a:ext cx="6035040" cy="1188720"/>
          </a:xfrm>
          <a:prstGeom prst="roundRect">
            <a:avLst>
              <a:gd name="adj" fmla="val 8000"/>
            </a:avLst>
          </a:prstGeom>
          <a:solidFill>
            <a:srgbClr val="E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5577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rial"/>
              </a:rPr>
              <a:t>The gap:</a:t>
            </a:r>
            <a:r>
              <a:rPr sz="1800" b="0">
                <a:solidFill>
                  <a:srgbClr val="14213D"/>
                </a:solidFill>
                <a:latin typeface="Arial"/>
              </a:rPr>
              <a:t> our three task models share nothing.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14213D"/>
                </a:solidFill>
                <a:latin typeface="Arial"/>
              </a:rPr>
              <a:t>AP-affinity shares location knowledge between them, but only by hand.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E7C7B"/>
                </a:solidFill>
                <a:latin typeface="Arial"/>
              </a:rPr>
              <a:t>Thank you!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600200"/>
            <a:ext cx="4553712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600200"/>
            <a:ext cx="4553712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14213D"/>
                </a:solidFill>
                <a:latin typeface="Arial"/>
              </a:rPr>
              <a:t>Wi-Fi scan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80576" y="2377440"/>
            <a:ext cx="365760" cy="411480"/>
          </a:xfrm>
          <a:prstGeom prst="down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600" y="2880360"/>
            <a:ext cx="4553712" cy="822960"/>
          </a:xfrm>
          <a:prstGeom prst="roundRect">
            <a:avLst>
              <a:gd name="adj" fmla="val 15000"/>
            </a:avLst>
          </a:prstGeom>
          <a:solidFill>
            <a:srgbClr val="E3ECEA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880360"/>
            <a:ext cx="4553712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rial"/>
              </a:rPr>
              <a:t>Shared layers</a:t>
            </a:r>
            <a:r>
              <a:rPr sz="1800" b="0">
                <a:solidFill>
                  <a:srgbClr val="14213D"/>
                </a:solidFill>
                <a:latin typeface="Arial"/>
              </a:rPr>
              <a:t> (learned together)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180576" y="3794759"/>
            <a:ext cx="365760" cy="411480"/>
          </a:xfrm>
          <a:prstGeom prst="down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86600" y="4297680"/>
            <a:ext cx="1426464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4297680"/>
            <a:ext cx="1426464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Building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50224" y="4297680"/>
            <a:ext cx="1426464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0224" y="4297680"/>
            <a:ext cx="1426464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Floor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13848" y="4297680"/>
            <a:ext cx="1426464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13848" y="4297680"/>
            <a:ext cx="1426464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5166360"/>
            <a:ext cx="4553712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F6B7A"/>
                </a:solidFill>
                <a:latin typeface="Arial"/>
              </a:rPr>
              <a:t>Phase 2: one multi-task neural network, with the same split, test set and metrics, compared with Phase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Indoor Location Prediction Using Wi-Fi Signals: Phase 1</dc:title>
  <dc:subject>Project 9, T084</dc:subject>
  <dc:creator>Team T084</dc:creator>
  <cp:keywords>UJIIndoorLoc, Wi-Fi, positioning, kNN, XGBoost, cross-validation</cp:keywords>
  <dc:description/>
  <cp:lastModifiedBy>Team T084</cp:lastModifiedBy>
  <cp:revision>1</cp:revision>
  <dcterms:created xsi:type="dcterms:W3CDTF">2026-10-21T00:00:00Z</dcterms:created>
  <dcterms:modified xsi:type="dcterms:W3CDTF">2026-10-21T00:00:00Z</dcterms:modified>
  <cp:category/>
</cp:coreProperties>
</file>